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5B11-1A24-D2B8-98D7-C52B2FC5F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9E2B3F-9B01-BC75-15D5-6EA36BE906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2B0650-71BE-28E2-312E-6EB3D8542EAB}"/>
              </a:ext>
            </a:extLst>
          </p:cNvPr>
          <p:cNvSpPr>
            <a:spLocks noGrp="1"/>
          </p:cNvSpPr>
          <p:nvPr>
            <p:ph type="dt" sz="half" idx="10"/>
          </p:nvPr>
        </p:nvSpPr>
        <p:spPr/>
        <p:txBody>
          <a:bodyPr/>
          <a:lstStyle/>
          <a:p>
            <a:fld id="{FB3F7610-84FD-AB40-AB42-193CB1B5ABC9}" type="datetimeFigureOut">
              <a:rPr lang="en-US" smtClean="0"/>
              <a:t>5/10/26</a:t>
            </a:fld>
            <a:endParaRPr lang="en-US"/>
          </a:p>
        </p:txBody>
      </p:sp>
      <p:sp>
        <p:nvSpPr>
          <p:cNvPr id="5" name="Footer Placeholder 4">
            <a:extLst>
              <a:ext uri="{FF2B5EF4-FFF2-40B4-BE49-F238E27FC236}">
                <a16:creationId xmlns:a16="http://schemas.microsoft.com/office/drawing/2014/main" id="{C2751841-4491-B612-3D9E-406B83B55C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7F9019-5566-660B-CD51-8AB71D012F5C}"/>
              </a:ext>
            </a:extLst>
          </p:cNvPr>
          <p:cNvSpPr>
            <a:spLocks noGrp="1"/>
          </p:cNvSpPr>
          <p:nvPr>
            <p:ph type="sldNum" sz="quarter" idx="12"/>
          </p:nvPr>
        </p:nvSpPr>
        <p:spPr/>
        <p:txBody>
          <a:bodyPr/>
          <a:lstStyle/>
          <a:p>
            <a:fld id="{4B3A916B-A1E0-A349-85AC-417BCA0D733E}" type="slidenum">
              <a:rPr lang="en-US" smtClean="0"/>
              <a:t>‹#›</a:t>
            </a:fld>
            <a:endParaRPr lang="en-US"/>
          </a:p>
        </p:txBody>
      </p:sp>
    </p:spTree>
    <p:extLst>
      <p:ext uri="{BB962C8B-B14F-4D97-AF65-F5344CB8AC3E}">
        <p14:creationId xmlns:p14="http://schemas.microsoft.com/office/powerpoint/2010/main" val="3982720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B66C4-755C-EE16-AA44-0D9D54A642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71CC7B-1DA4-3AE2-48EC-56AD92EDE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161CCC-8E58-FA03-D077-C0459A4A13E2}"/>
              </a:ext>
            </a:extLst>
          </p:cNvPr>
          <p:cNvSpPr>
            <a:spLocks noGrp="1"/>
          </p:cNvSpPr>
          <p:nvPr>
            <p:ph type="dt" sz="half" idx="10"/>
          </p:nvPr>
        </p:nvSpPr>
        <p:spPr/>
        <p:txBody>
          <a:bodyPr/>
          <a:lstStyle/>
          <a:p>
            <a:fld id="{FB3F7610-84FD-AB40-AB42-193CB1B5ABC9}" type="datetimeFigureOut">
              <a:rPr lang="en-US" smtClean="0"/>
              <a:t>5/10/26</a:t>
            </a:fld>
            <a:endParaRPr lang="en-US"/>
          </a:p>
        </p:txBody>
      </p:sp>
      <p:sp>
        <p:nvSpPr>
          <p:cNvPr id="5" name="Footer Placeholder 4">
            <a:extLst>
              <a:ext uri="{FF2B5EF4-FFF2-40B4-BE49-F238E27FC236}">
                <a16:creationId xmlns:a16="http://schemas.microsoft.com/office/drawing/2014/main" id="{BF6708F8-14E0-3256-0145-26A0061562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33B163-4881-EB4D-A01D-F04275FFF91D}"/>
              </a:ext>
            </a:extLst>
          </p:cNvPr>
          <p:cNvSpPr>
            <a:spLocks noGrp="1"/>
          </p:cNvSpPr>
          <p:nvPr>
            <p:ph type="sldNum" sz="quarter" idx="12"/>
          </p:nvPr>
        </p:nvSpPr>
        <p:spPr/>
        <p:txBody>
          <a:bodyPr/>
          <a:lstStyle/>
          <a:p>
            <a:fld id="{4B3A916B-A1E0-A349-85AC-417BCA0D733E}" type="slidenum">
              <a:rPr lang="en-US" smtClean="0"/>
              <a:t>‹#›</a:t>
            </a:fld>
            <a:endParaRPr lang="en-US"/>
          </a:p>
        </p:txBody>
      </p:sp>
    </p:spTree>
    <p:extLst>
      <p:ext uri="{BB962C8B-B14F-4D97-AF65-F5344CB8AC3E}">
        <p14:creationId xmlns:p14="http://schemas.microsoft.com/office/powerpoint/2010/main" val="1560283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53046-F6D8-A693-1834-539DA5FFFF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FF0C5F-4235-27EE-CAD5-52F25EF333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9BAE1A-BFEB-D2D8-D735-9A70C827E03F}"/>
              </a:ext>
            </a:extLst>
          </p:cNvPr>
          <p:cNvSpPr>
            <a:spLocks noGrp="1"/>
          </p:cNvSpPr>
          <p:nvPr>
            <p:ph type="dt" sz="half" idx="10"/>
          </p:nvPr>
        </p:nvSpPr>
        <p:spPr/>
        <p:txBody>
          <a:bodyPr/>
          <a:lstStyle/>
          <a:p>
            <a:fld id="{FB3F7610-84FD-AB40-AB42-193CB1B5ABC9}" type="datetimeFigureOut">
              <a:rPr lang="en-US" smtClean="0"/>
              <a:t>5/10/26</a:t>
            </a:fld>
            <a:endParaRPr lang="en-US"/>
          </a:p>
        </p:txBody>
      </p:sp>
      <p:sp>
        <p:nvSpPr>
          <p:cNvPr id="5" name="Footer Placeholder 4">
            <a:extLst>
              <a:ext uri="{FF2B5EF4-FFF2-40B4-BE49-F238E27FC236}">
                <a16:creationId xmlns:a16="http://schemas.microsoft.com/office/drawing/2014/main" id="{7277A2E5-5606-40BD-44D4-CDCC9509D9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1E0C27-BD22-0322-E491-0242BD319CA5}"/>
              </a:ext>
            </a:extLst>
          </p:cNvPr>
          <p:cNvSpPr>
            <a:spLocks noGrp="1"/>
          </p:cNvSpPr>
          <p:nvPr>
            <p:ph type="sldNum" sz="quarter" idx="12"/>
          </p:nvPr>
        </p:nvSpPr>
        <p:spPr/>
        <p:txBody>
          <a:bodyPr/>
          <a:lstStyle/>
          <a:p>
            <a:fld id="{4B3A916B-A1E0-A349-85AC-417BCA0D733E}" type="slidenum">
              <a:rPr lang="en-US" smtClean="0"/>
              <a:t>‹#›</a:t>
            </a:fld>
            <a:endParaRPr lang="en-US"/>
          </a:p>
        </p:txBody>
      </p:sp>
    </p:spTree>
    <p:extLst>
      <p:ext uri="{BB962C8B-B14F-4D97-AF65-F5344CB8AC3E}">
        <p14:creationId xmlns:p14="http://schemas.microsoft.com/office/powerpoint/2010/main" val="2093995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4A474-18A4-D365-CDC2-1C3F834CF6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086841-5B20-1C0E-50F4-B7F9D2E93B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8AD3F9-60FB-958F-6691-026DC85D1B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03768D-29FF-5C66-886E-0D43BF26FD9D}"/>
              </a:ext>
            </a:extLst>
          </p:cNvPr>
          <p:cNvSpPr>
            <a:spLocks noGrp="1"/>
          </p:cNvSpPr>
          <p:nvPr>
            <p:ph type="dt" sz="half" idx="10"/>
          </p:nvPr>
        </p:nvSpPr>
        <p:spPr/>
        <p:txBody>
          <a:bodyPr/>
          <a:lstStyle/>
          <a:p>
            <a:fld id="{FB3F7610-84FD-AB40-AB42-193CB1B5ABC9}" type="datetimeFigureOut">
              <a:rPr lang="en-US" smtClean="0"/>
              <a:t>5/10/26</a:t>
            </a:fld>
            <a:endParaRPr lang="en-US"/>
          </a:p>
        </p:txBody>
      </p:sp>
      <p:sp>
        <p:nvSpPr>
          <p:cNvPr id="6" name="Footer Placeholder 5">
            <a:extLst>
              <a:ext uri="{FF2B5EF4-FFF2-40B4-BE49-F238E27FC236}">
                <a16:creationId xmlns:a16="http://schemas.microsoft.com/office/drawing/2014/main" id="{C78723ED-210B-6678-2548-535F06279C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655B4-090E-4BC8-F22D-EFCA43CD9505}"/>
              </a:ext>
            </a:extLst>
          </p:cNvPr>
          <p:cNvSpPr>
            <a:spLocks noGrp="1"/>
          </p:cNvSpPr>
          <p:nvPr>
            <p:ph type="sldNum" sz="quarter" idx="12"/>
          </p:nvPr>
        </p:nvSpPr>
        <p:spPr/>
        <p:txBody>
          <a:bodyPr/>
          <a:lstStyle/>
          <a:p>
            <a:fld id="{4B3A916B-A1E0-A349-85AC-417BCA0D733E}" type="slidenum">
              <a:rPr lang="en-US" smtClean="0"/>
              <a:t>‹#›</a:t>
            </a:fld>
            <a:endParaRPr lang="en-US"/>
          </a:p>
        </p:txBody>
      </p:sp>
    </p:spTree>
    <p:extLst>
      <p:ext uri="{BB962C8B-B14F-4D97-AF65-F5344CB8AC3E}">
        <p14:creationId xmlns:p14="http://schemas.microsoft.com/office/powerpoint/2010/main" val="2351486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18BF2-E00A-1C72-8416-F49396BC14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3652FC-86F9-0C37-32CB-E083D32B1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74E25F-17D2-2B5A-6382-F45DF8EC77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CCFE1B-049E-F2D7-8B07-35D1CC805D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F33CA3-B576-D6E1-AFCA-7786846F84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503CB5-A4E2-83F4-5B63-632C52A36ECA}"/>
              </a:ext>
            </a:extLst>
          </p:cNvPr>
          <p:cNvSpPr>
            <a:spLocks noGrp="1"/>
          </p:cNvSpPr>
          <p:nvPr>
            <p:ph type="dt" sz="half" idx="10"/>
          </p:nvPr>
        </p:nvSpPr>
        <p:spPr/>
        <p:txBody>
          <a:bodyPr/>
          <a:lstStyle/>
          <a:p>
            <a:fld id="{FB3F7610-84FD-AB40-AB42-193CB1B5ABC9}" type="datetimeFigureOut">
              <a:rPr lang="en-US" smtClean="0"/>
              <a:t>5/10/26</a:t>
            </a:fld>
            <a:endParaRPr lang="en-US"/>
          </a:p>
        </p:txBody>
      </p:sp>
      <p:sp>
        <p:nvSpPr>
          <p:cNvPr id="8" name="Footer Placeholder 7">
            <a:extLst>
              <a:ext uri="{FF2B5EF4-FFF2-40B4-BE49-F238E27FC236}">
                <a16:creationId xmlns:a16="http://schemas.microsoft.com/office/drawing/2014/main" id="{CB1D0D8E-5D1F-0D28-4C92-0A3E87FA74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40D0A2-7D20-C9F0-960A-8A3515A2B734}"/>
              </a:ext>
            </a:extLst>
          </p:cNvPr>
          <p:cNvSpPr>
            <a:spLocks noGrp="1"/>
          </p:cNvSpPr>
          <p:nvPr>
            <p:ph type="sldNum" sz="quarter" idx="12"/>
          </p:nvPr>
        </p:nvSpPr>
        <p:spPr/>
        <p:txBody>
          <a:bodyPr/>
          <a:lstStyle/>
          <a:p>
            <a:fld id="{4B3A916B-A1E0-A349-85AC-417BCA0D733E}" type="slidenum">
              <a:rPr lang="en-US" smtClean="0"/>
              <a:t>‹#›</a:t>
            </a:fld>
            <a:endParaRPr lang="en-US"/>
          </a:p>
        </p:txBody>
      </p:sp>
    </p:spTree>
    <p:extLst>
      <p:ext uri="{BB962C8B-B14F-4D97-AF65-F5344CB8AC3E}">
        <p14:creationId xmlns:p14="http://schemas.microsoft.com/office/powerpoint/2010/main" val="1448193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B5DA8-4D13-20C1-AAC3-97D1DCB9C5D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97D309-134D-228A-213E-FB4947DFEE24}"/>
              </a:ext>
            </a:extLst>
          </p:cNvPr>
          <p:cNvSpPr>
            <a:spLocks noGrp="1"/>
          </p:cNvSpPr>
          <p:nvPr>
            <p:ph type="dt" sz="half" idx="10"/>
          </p:nvPr>
        </p:nvSpPr>
        <p:spPr/>
        <p:txBody>
          <a:bodyPr/>
          <a:lstStyle/>
          <a:p>
            <a:fld id="{FB3F7610-84FD-AB40-AB42-193CB1B5ABC9}" type="datetimeFigureOut">
              <a:rPr lang="en-US" smtClean="0"/>
              <a:t>5/10/26</a:t>
            </a:fld>
            <a:endParaRPr lang="en-US"/>
          </a:p>
        </p:txBody>
      </p:sp>
      <p:sp>
        <p:nvSpPr>
          <p:cNvPr id="4" name="Footer Placeholder 3">
            <a:extLst>
              <a:ext uri="{FF2B5EF4-FFF2-40B4-BE49-F238E27FC236}">
                <a16:creationId xmlns:a16="http://schemas.microsoft.com/office/drawing/2014/main" id="{2F3F0D61-4B80-22C6-4C1F-B26A175086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944DF8-B7F2-AC95-84BA-17D2C7E1219D}"/>
              </a:ext>
            </a:extLst>
          </p:cNvPr>
          <p:cNvSpPr>
            <a:spLocks noGrp="1"/>
          </p:cNvSpPr>
          <p:nvPr>
            <p:ph type="sldNum" sz="quarter" idx="12"/>
          </p:nvPr>
        </p:nvSpPr>
        <p:spPr/>
        <p:txBody>
          <a:bodyPr/>
          <a:lstStyle/>
          <a:p>
            <a:fld id="{4B3A916B-A1E0-A349-85AC-417BCA0D733E}" type="slidenum">
              <a:rPr lang="en-US" smtClean="0"/>
              <a:t>‹#›</a:t>
            </a:fld>
            <a:endParaRPr lang="en-US"/>
          </a:p>
        </p:txBody>
      </p:sp>
    </p:spTree>
    <p:extLst>
      <p:ext uri="{BB962C8B-B14F-4D97-AF65-F5344CB8AC3E}">
        <p14:creationId xmlns:p14="http://schemas.microsoft.com/office/powerpoint/2010/main" val="3611157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6B2BB3-2AE8-F630-084E-83819A1084B9}"/>
              </a:ext>
            </a:extLst>
          </p:cNvPr>
          <p:cNvSpPr>
            <a:spLocks noGrp="1"/>
          </p:cNvSpPr>
          <p:nvPr>
            <p:ph type="dt" sz="half" idx="10"/>
          </p:nvPr>
        </p:nvSpPr>
        <p:spPr/>
        <p:txBody>
          <a:bodyPr/>
          <a:lstStyle/>
          <a:p>
            <a:fld id="{FB3F7610-84FD-AB40-AB42-193CB1B5ABC9}" type="datetimeFigureOut">
              <a:rPr lang="en-US" smtClean="0"/>
              <a:t>5/10/26</a:t>
            </a:fld>
            <a:endParaRPr lang="en-US"/>
          </a:p>
        </p:txBody>
      </p:sp>
      <p:sp>
        <p:nvSpPr>
          <p:cNvPr id="3" name="Footer Placeholder 2">
            <a:extLst>
              <a:ext uri="{FF2B5EF4-FFF2-40B4-BE49-F238E27FC236}">
                <a16:creationId xmlns:a16="http://schemas.microsoft.com/office/drawing/2014/main" id="{91387E05-143E-1567-3AFA-02AA4995D6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5E6B71-6E2E-29CB-6517-4451FA1AC87C}"/>
              </a:ext>
            </a:extLst>
          </p:cNvPr>
          <p:cNvSpPr>
            <a:spLocks noGrp="1"/>
          </p:cNvSpPr>
          <p:nvPr>
            <p:ph type="sldNum" sz="quarter" idx="12"/>
          </p:nvPr>
        </p:nvSpPr>
        <p:spPr/>
        <p:txBody>
          <a:bodyPr/>
          <a:lstStyle/>
          <a:p>
            <a:fld id="{4B3A916B-A1E0-A349-85AC-417BCA0D733E}" type="slidenum">
              <a:rPr lang="en-US" smtClean="0"/>
              <a:t>‹#›</a:t>
            </a:fld>
            <a:endParaRPr lang="en-US"/>
          </a:p>
        </p:txBody>
      </p:sp>
    </p:spTree>
    <p:extLst>
      <p:ext uri="{BB962C8B-B14F-4D97-AF65-F5344CB8AC3E}">
        <p14:creationId xmlns:p14="http://schemas.microsoft.com/office/powerpoint/2010/main" val="1305461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32DD6-0016-D766-4B53-562CAC50D8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95EDED-77E8-0399-18FB-AF240F95A3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504F8B-8D39-E424-E8F1-DE51D1C482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07EC05-47F7-5E38-0E0A-CDF034F515D4}"/>
              </a:ext>
            </a:extLst>
          </p:cNvPr>
          <p:cNvSpPr>
            <a:spLocks noGrp="1"/>
          </p:cNvSpPr>
          <p:nvPr>
            <p:ph type="dt" sz="half" idx="10"/>
          </p:nvPr>
        </p:nvSpPr>
        <p:spPr/>
        <p:txBody>
          <a:bodyPr/>
          <a:lstStyle/>
          <a:p>
            <a:fld id="{FB3F7610-84FD-AB40-AB42-193CB1B5ABC9}" type="datetimeFigureOut">
              <a:rPr lang="en-US" smtClean="0"/>
              <a:t>5/10/26</a:t>
            </a:fld>
            <a:endParaRPr lang="en-US"/>
          </a:p>
        </p:txBody>
      </p:sp>
      <p:sp>
        <p:nvSpPr>
          <p:cNvPr id="6" name="Footer Placeholder 5">
            <a:extLst>
              <a:ext uri="{FF2B5EF4-FFF2-40B4-BE49-F238E27FC236}">
                <a16:creationId xmlns:a16="http://schemas.microsoft.com/office/drawing/2014/main" id="{38F21DDF-EEE6-2242-F5AD-0CE5979DC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F3CBD2-A4C1-CA97-78C1-B361588E2C42}"/>
              </a:ext>
            </a:extLst>
          </p:cNvPr>
          <p:cNvSpPr>
            <a:spLocks noGrp="1"/>
          </p:cNvSpPr>
          <p:nvPr>
            <p:ph type="sldNum" sz="quarter" idx="12"/>
          </p:nvPr>
        </p:nvSpPr>
        <p:spPr/>
        <p:txBody>
          <a:bodyPr/>
          <a:lstStyle/>
          <a:p>
            <a:fld id="{4B3A916B-A1E0-A349-85AC-417BCA0D733E}" type="slidenum">
              <a:rPr lang="en-US" smtClean="0"/>
              <a:t>‹#›</a:t>
            </a:fld>
            <a:endParaRPr lang="en-US"/>
          </a:p>
        </p:txBody>
      </p:sp>
    </p:spTree>
    <p:extLst>
      <p:ext uri="{BB962C8B-B14F-4D97-AF65-F5344CB8AC3E}">
        <p14:creationId xmlns:p14="http://schemas.microsoft.com/office/powerpoint/2010/main" val="3595569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E0282-1F6E-070B-20C1-AA9DC57AF9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5DFB8C-5C49-5035-9F9A-C3B5A8BFD0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882A48-794E-6EAC-3F21-364CB07ECD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421DDF-C1F6-5403-6E5A-78FD2C24ED69}"/>
              </a:ext>
            </a:extLst>
          </p:cNvPr>
          <p:cNvSpPr>
            <a:spLocks noGrp="1"/>
          </p:cNvSpPr>
          <p:nvPr>
            <p:ph type="dt" sz="half" idx="10"/>
          </p:nvPr>
        </p:nvSpPr>
        <p:spPr/>
        <p:txBody>
          <a:bodyPr/>
          <a:lstStyle/>
          <a:p>
            <a:fld id="{FB3F7610-84FD-AB40-AB42-193CB1B5ABC9}" type="datetimeFigureOut">
              <a:rPr lang="en-US" smtClean="0"/>
              <a:t>5/10/26</a:t>
            </a:fld>
            <a:endParaRPr lang="en-US"/>
          </a:p>
        </p:txBody>
      </p:sp>
      <p:sp>
        <p:nvSpPr>
          <p:cNvPr id="6" name="Footer Placeholder 5">
            <a:extLst>
              <a:ext uri="{FF2B5EF4-FFF2-40B4-BE49-F238E27FC236}">
                <a16:creationId xmlns:a16="http://schemas.microsoft.com/office/drawing/2014/main" id="{12A6789F-B184-1F9F-4D38-C76162D051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9612E5-1690-89F7-9649-36739B1F2748}"/>
              </a:ext>
            </a:extLst>
          </p:cNvPr>
          <p:cNvSpPr>
            <a:spLocks noGrp="1"/>
          </p:cNvSpPr>
          <p:nvPr>
            <p:ph type="sldNum" sz="quarter" idx="12"/>
          </p:nvPr>
        </p:nvSpPr>
        <p:spPr/>
        <p:txBody>
          <a:bodyPr/>
          <a:lstStyle/>
          <a:p>
            <a:fld id="{4B3A916B-A1E0-A349-85AC-417BCA0D733E}" type="slidenum">
              <a:rPr lang="en-US" smtClean="0"/>
              <a:t>‹#›</a:t>
            </a:fld>
            <a:endParaRPr lang="en-US"/>
          </a:p>
        </p:txBody>
      </p:sp>
    </p:spTree>
    <p:extLst>
      <p:ext uri="{BB962C8B-B14F-4D97-AF65-F5344CB8AC3E}">
        <p14:creationId xmlns:p14="http://schemas.microsoft.com/office/powerpoint/2010/main" val="1493101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7C2AE-9E83-82AE-FD09-BEE0CF8172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EEB0F3-09ED-43FD-C156-808FB43008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D482B7-9F6F-CDCA-58DC-982C0C54B8CB}"/>
              </a:ext>
            </a:extLst>
          </p:cNvPr>
          <p:cNvSpPr>
            <a:spLocks noGrp="1"/>
          </p:cNvSpPr>
          <p:nvPr>
            <p:ph type="dt" sz="half" idx="10"/>
          </p:nvPr>
        </p:nvSpPr>
        <p:spPr/>
        <p:txBody>
          <a:bodyPr/>
          <a:lstStyle/>
          <a:p>
            <a:fld id="{FB3F7610-84FD-AB40-AB42-193CB1B5ABC9}" type="datetimeFigureOut">
              <a:rPr lang="en-US" smtClean="0"/>
              <a:t>5/10/26</a:t>
            </a:fld>
            <a:endParaRPr lang="en-US"/>
          </a:p>
        </p:txBody>
      </p:sp>
      <p:sp>
        <p:nvSpPr>
          <p:cNvPr id="5" name="Footer Placeholder 4">
            <a:extLst>
              <a:ext uri="{FF2B5EF4-FFF2-40B4-BE49-F238E27FC236}">
                <a16:creationId xmlns:a16="http://schemas.microsoft.com/office/drawing/2014/main" id="{57785A8A-7D63-AC0C-0B94-B9649DDF11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CD2C28-96D9-B49C-D481-F038F1B2B60B}"/>
              </a:ext>
            </a:extLst>
          </p:cNvPr>
          <p:cNvSpPr>
            <a:spLocks noGrp="1"/>
          </p:cNvSpPr>
          <p:nvPr>
            <p:ph type="sldNum" sz="quarter" idx="12"/>
          </p:nvPr>
        </p:nvSpPr>
        <p:spPr/>
        <p:txBody>
          <a:bodyPr/>
          <a:lstStyle/>
          <a:p>
            <a:fld id="{4B3A916B-A1E0-A349-85AC-417BCA0D733E}" type="slidenum">
              <a:rPr lang="en-US" smtClean="0"/>
              <a:t>‹#›</a:t>
            </a:fld>
            <a:endParaRPr lang="en-US"/>
          </a:p>
        </p:txBody>
      </p:sp>
    </p:spTree>
    <p:extLst>
      <p:ext uri="{BB962C8B-B14F-4D97-AF65-F5344CB8AC3E}">
        <p14:creationId xmlns:p14="http://schemas.microsoft.com/office/powerpoint/2010/main" val="3661856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FD1535-DC28-512A-A793-2ABBC4AA32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BE5F79-B5DF-E881-67E3-B8ED342B2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63A87C-A3B9-53C3-226A-1EB60FCD9F96}"/>
              </a:ext>
            </a:extLst>
          </p:cNvPr>
          <p:cNvSpPr>
            <a:spLocks noGrp="1"/>
          </p:cNvSpPr>
          <p:nvPr>
            <p:ph type="dt" sz="half" idx="10"/>
          </p:nvPr>
        </p:nvSpPr>
        <p:spPr/>
        <p:txBody>
          <a:bodyPr/>
          <a:lstStyle/>
          <a:p>
            <a:fld id="{FB3F7610-84FD-AB40-AB42-193CB1B5ABC9}" type="datetimeFigureOut">
              <a:rPr lang="en-US" smtClean="0"/>
              <a:t>5/10/26</a:t>
            </a:fld>
            <a:endParaRPr lang="en-US"/>
          </a:p>
        </p:txBody>
      </p:sp>
      <p:sp>
        <p:nvSpPr>
          <p:cNvPr id="5" name="Footer Placeholder 4">
            <a:extLst>
              <a:ext uri="{FF2B5EF4-FFF2-40B4-BE49-F238E27FC236}">
                <a16:creationId xmlns:a16="http://schemas.microsoft.com/office/drawing/2014/main" id="{34AEEEB3-9CDB-55E5-51F6-AD77B8DE72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5B926F-C610-85C2-BDEB-85AF39BF358E}"/>
              </a:ext>
            </a:extLst>
          </p:cNvPr>
          <p:cNvSpPr>
            <a:spLocks noGrp="1"/>
          </p:cNvSpPr>
          <p:nvPr>
            <p:ph type="sldNum" sz="quarter" idx="12"/>
          </p:nvPr>
        </p:nvSpPr>
        <p:spPr/>
        <p:txBody>
          <a:bodyPr/>
          <a:lstStyle/>
          <a:p>
            <a:fld id="{4B3A916B-A1E0-A349-85AC-417BCA0D733E}" type="slidenum">
              <a:rPr lang="en-US" smtClean="0"/>
              <a:t>‹#›</a:t>
            </a:fld>
            <a:endParaRPr lang="en-US"/>
          </a:p>
        </p:txBody>
      </p:sp>
    </p:spTree>
    <p:extLst>
      <p:ext uri="{BB962C8B-B14F-4D97-AF65-F5344CB8AC3E}">
        <p14:creationId xmlns:p14="http://schemas.microsoft.com/office/powerpoint/2010/main" val="2198904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EB4A05-B3B2-D707-CA0D-048E579E7B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28535C-3A37-9ACA-97D2-A069CFF09A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B7E4AD-8744-B5F0-0FA5-B3E9564CB3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3F7610-84FD-AB40-AB42-193CB1B5ABC9}" type="datetimeFigureOut">
              <a:rPr lang="en-US" smtClean="0"/>
              <a:t>5/10/26</a:t>
            </a:fld>
            <a:endParaRPr lang="en-US"/>
          </a:p>
        </p:txBody>
      </p:sp>
      <p:sp>
        <p:nvSpPr>
          <p:cNvPr id="5" name="Footer Placeholder 4">
            <a:extLst>
              <a:ext uri="{FF2B5EF4-FFF2-40B4-BE49-F238E27FC236}">
                <a16:creationId xmlns:a16="http://schemas.microsoft.com/office/drawing/2014/main" id="{07A856DC-BF03-1E75-9F1A-1E151F46F4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3122067-1F4E-D3FB-87C6-70069ACFA4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3A916B-A1E0-A349-85AC-417BCA0D733E}" type="slidenum">
              <a:rPr lang="en-US" smtClean="0"/>
              <a:t>‹#›</a:t>
            </a:fld>
            <a:endParaRPr lang="en-US"/>
          </a:p>
        </p:txBody>
      </p:sp>
    </p:spTree>
    <p:extLst>
      <p:ext uri="{BB962C8B-B14F-4D97-AF65-F5344CB8AC3E}">
        <p14:creationId xmlns:p14="http://schemas.microsoft.com/office/powerpoint/2010/main" val="3410088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7E0BE-3920-6FC6-BB01-6B217DC1572B}"/>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668EB05A-C6D9-53A2-3C1C-5D42DAA7654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90113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08F1-A8F1-86F2-C0F9-407C4CCE0C9C}"/>
              </a:ext>
            </a:extLst>
          </p:cNvPr>
          <p:cNvSpPr>
            <a:spLocks noGrp="1"/>
          </p:cNvSpPr>
          <p:nvPr>
            <p:ph type="title"/>
          </p:nvPr>
        </p:nvSpPr>
        <p:spPr/>
        <p:txBody>
          <a:bodyPr/>
          <a:lstStyle/>
          <a:p>
            <a:r>
              <a:rPr lang="en-US" u="sng" dirty="0"/>
              <a:t>Brown Shrimp</a:t>
            </a:r>
            <a:br>
              <a:rPr lang="en-US" b="0" dirty="0">
                <a:effectLst/>
              </a:rPr>
            </a:br>
            <a:endParaRPr lang="en-US" dirty="0"/>
          </a:p>
        </p:txBody>
      </p:sp>
      <p:sp>
        <p:nvSpPr>
          <p:cNvPr id="3" name="Content Placeholder 2">
            <a:extLst>
              <a:ext uri="{FF2B5EF4-FFF2-40B4-BE49-F238E27FC236}">
                <a16:creationId xmlns:a16="http://schemas.microsoft.com/office/drawing/2014/main" id="{D5C4D495-C0DD-60A9-11AD-721CD6AFD5DB}"/>
              </a:ext>
            </a:extLst>
          </p:cNvPr>
          <p:cNvSpPr>
            <a:spLocks noGrp="1"/>
          </p:cNvSpPr>
          <p:nvPr>
            <p:ph idx="1"/>
          </p:nvPr>
        </p:nvSpPr>
        <p:spPr/>
        <p:txBody>
          <a:bodyPr>
            <a:normAutofit fontScale="55000" lnSpcReduction="20000"/>
          </a:bodyPr>
          <a:lstStyle/>
          <a:p>
            <a:r>
              <a:rPr lang="en-US" dirty="0"/>
              <a:t>Salinity – all sites negatively correlated (linear)</a:t>
            </a:r>
            <a:endParaRPr lang="en-US" b="0" dirty="0">
              <a:effectLst/>
            </a:endParaRPr>
          </a:p>
          <a:p>
            <a:r>
              <a:rPr lang="en-US" dirty="0"/>
              <a:t>DO – All sites besides LM and CB (Texas) positively correlated (linear)</a:t>
            </a:r>
            <a:endParaRPr lang="en-US" b="0" dirty="0">
              <a:effectLst/>
            </a:endParaRPr>
          </a:p>
          <a:p>
            <a:r>
              <a:rPr lang="en-US" dirty="0"/>
              <a:t>-       Negatively correlated in LM and parabolic in CB</a:t>
            </a:r>
            <a:endParaRPr lang="en-US" b="0" dirty="0">
              <a:effectLst/>
            </a:endParaRPr>
          </a:p>
          <a:p>
            <a:r>
              <a:rPr lang="en-US" dirty="0"/>
              <a:t>Temp – positively correlated for 4 out of 6 sites (some are logistic)</a:t>
            </a:r>
            <a:endParaRPr lang="en-US" b="0" dirty="0">
              <a:effectLst/>
            </a:endParaRPr>
          </a:p>
          <a:p>
            <a:r>
              <a:rPr lang="en-US" dirty="0"/>
              <a:t>-       Negatively correlated in LA, parabolic in LM</a:t>
            </a:r>
            <a:endParaRPr lang="en-US" b="0" dirty="0">
              <a:effectLst/>
            </a:endParaRPr>
          </a:p>
          <a:p>
            <a:r>
              <a:rPr lang="en-US" dirty="0"/>
              <a:t>Seagrass richness – all sites positively correlated</a:t>
            </a:r>
            <a:endParaRPr lang="en-US" b="0" dirty="0">
              <a:effectLst/>
            </a:endParaRPr>
          </a:p>
          <a:p>
            <a:r>
              <a:rPr lang="en-US" dirty="0"/>
              <a:t>Secchi depth – all sites positively correlated</a:t>
            </a:r>
            <a:endParaRPr lang="en-US" b="0" dirty="0">
              <a:effectLst/>
            </a:endParaRPr>
          </a:p>
          <a:p>
            <a:r>
              <a:rPr lang="en-US" dirty="0"/>
              <a:t>Shoots – all generally lower with higher shoot cover</a:t>
            </a:r>
            <a:endParaRPr lang="en-US" b="0" dirty="0">
              <a:effectLst/>
            </a:endParaRPr>
          </a:p>
          <a:p>
            <a:r>
              <a:rPr lang="en-US" dirty="0"/>
              <a:t>Above biomass – all but CB higher with higher AB</a:t>
            </a:r>
            <a:endParaRPr lang="en-US" b="0" dirty="0">
              <a:effectLst/>
            </a:endParaRPr>
          </a:p>
          <a:p>
            <a:r>
              <a:rPr lang="en-US" dirty="0"/>
              <a:t>Below biomass – Very variable with 2 sites missing. Maybe not include?</a:t>
            </a:r>
            <a:endParaRPr lang="en-US" b="0" dirty="0">
              <a:effectLst/>
            </a:endParaRPr>
          </a:p>
          <a:p>
            <a:r>
              <a:rPr lang="en-US" dirty="0"/>
              <a:t>Canopy – all sites besides Texas negatively correlated</a:t>
            </a:r>
            <a:endParaRPr lang="en-US" b="0" dirty="0">
              <a:effectLst/>
            </a:endParaRPr>
          </a:p>
          <a:p>
            <a:r>
              <a:rPr lang="en-US" dirty="0"/>
              <a:t>-       Texas sites parabolic</a:t>
            </a:r>
            <a:endParaRPr lang="en-US" b="0" dirty="0">
              <a:effectLst/>
            </a:endParaRPr>
          </a:p>
          <a:p>
            <a:r>
              <a:rPr lang="en-US" dirty="0"/>
              <a:t>Leaf width – all generally lower with higher leaf width</a:t>
            </a:r>
            <a:endParaRPr lang="en-US" b="0" dirty="0">
              <a:effectLst/>
            </a:endParaRPr>
          </a:p>
          <a:p>
            <a:br>
              <a:rPr lang="en-US" dirty="0"/>
            </a:br>
            <a:endParaRPr lang="en-US" dirty="0"/>
          </a:p>
        </p:txBody>
      </p:sp>
    </p:spTree>
    <p:extLst>
      <p:ext uri="{BB962C8B-B14F-4D97-AF65-F5344CB8AC3E}">
        <p14:creationId xmlns:p14="http://schemas.microsoft.com/office/powerpoint/2010/main" val="3436273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2C703-88AC-A745-136E-DD5AD43EFC11}"/>
              </a:ext>
            </a:extLst>
          </p:cNvPr>
          <p:cNvSpPr>
            <a:spLocks noGrp="1"/>
          </p:cNvSpPr>
          <p:nvPr>
            <p:ph type="title"/>
          </p:nvPr>
        </p:nvSpPr>
        <p:spPr/>
        <p:txBody>
          <a:bodyPr/>
          <a:lstStyle/>
          <a:p>
            <a:r>
              <a:rPr lang="en-US" u="sng" dirty="0"/>
              <a:t>Pink Shrimp</a:t>
            </a:r>
            <a:br>
              <a:rPr lang="en-US" b="0" dirty="0">
                <a:effectLst/>
              </a:rPr>
            </a:br>
            <a:endParaRPr lang="en-US" dirty="0"/>
          </a:p>
        </p:txBody>
      </p:sp>
      <p:sp>
        <p:nvSpPr>
          <p:cNvPr id="3" name="Content Placeholder 2">
            <a:extLst>
              <a:ext uri="{FF2B5EF4-FFF2-40B4-BE49-F238E27FC236}">
                <a16:creationId xmlns:a16="http://schemas.microsoft.com/office/drawing/2014/main" id="{434647A2-BDD4-8B48-1E21-7D55C8A616B2}"/>
              </a:ext>
            </a:extLst>
          </p:cNvPr>
          <p:cNvSpPr>
            <a:spLocks noGrp="1"/>
          </p:cNvSpPr>
          <p:nvPr>
            <p:ph idx="1"/>
          </p:nvPr>
        </p:nvSpPr>
        <p:spPr/>
        <p:txBody>
          <a:bodyPr>
            <a:normAutofit fontScale="47500" lnSpcReduction="20000"/>
          </a:bodyPr>
          <a:lstStyle/>
          <a:p>
            <a:r>
              <a:rPr lang="en-US" b="1" dirty="0"/>
              <a:t>For environmental variables, all relationships are opposite to brown shrimp besides temp</a:t>
            </a:r>
            <a:endParaRPr lang="en-US" b="0" dirty="0">
              <a:effectLst/>
            </a:endParaRPr>
          </a:p>
          <a:p>
            <a:r>
              <a:rPr lang="en-US" dirty="0"/>
              <a:t>Salinity – All sites positively correlated</a:t>
            </a:r>
            <a:endParaRPr lang="en-US" b="0" dirty="0">
              <a:effectLst/>
            </a:endParaRPr>
          </a:p>
          <a:p>
            <a:r>
              <a:rPr lang="en-US" dirty="0"/>
              <a:t>DO – All sites negatively correlated</a:t>
            </a:r>
            <a:endParaRPr lang="en-US" b="0" dirty="0">
              <a:effectLst/>
            </a:endParaRPr>
          </a:p>
          <a:p>
            <a:r>
              <a:rPr lang="en-US" dirty="0"/>
              <a:t>Temp – half and half</a:t>
            </a:r>
            <a:endParaRPr lang="en-US" b="0" dirty="0">
              <a:effectLst/>
            </a:endParaRPr>
          </a:p>
          <a:p>
            <a:r>
              <a:rPr lang="en-US" dirty="0"/>
              <a:t>-       Positively correlated in CB, AP, and LA</a:t>
            </a:r>
            <a:endParaRPr lang="en-US" b="0" dirty="0">
              <a:effectLst/>
            </a:endParaRPr>
          </a:p>
          <a:p>
            <a:r>
              <a:rPr lang="en-US" dirty="0"/>
              <a:t>-       Negatively correlated in LM, CK, CH</a:t>
            </a:r>
            <a:endParaRPr lang="en-US" b="0" dirty="0">
              <a:effectLst/>
            </a:endParaRPr>
          </a:p>
          <a:p>
            <a:r>
              <a:rPr lang="en-US" dirty="0"/>
              <a:t>Seagrass richness – All negatively correlated</a:t>
            </a:r>
            <a:endParaRPr lang="en-US" b="0" dirty="0">
              <a:effectLst/>
            </a:endParaRPr>
          </a:p>
          <a:p>
            <a:r>
              <a:rPr lang="en-US" dirty="0"/>
              <a:t>Secchi depth – All negatively correlated</a:t>
            </a:r>
            <a:endParaRPr lang="en-US" b="0" dirty="0">
              <a:effectLst/>
            </a:endParaRPr>
          </a:p>
          <a:p>
            <a:r>
              <a:rPr lang="en-US" b="1" dirty="0"/>
              <a:t>For seagrass variables, relationships of above ground biomass, canopy, and leaf width are opposite to brown shrimp</a:t>
            </a:r>
            <a:endParaRPr lang="en-US" b="0" dirty="0">
              <a:effectLst/>
            </a:endParaRPr>
          </a:p>
          <a:p>
            <a:r>
              <a:rPr lang="en-US" dirty="0"/>
              <a:t>Shoots – All generally lower with higher shoot cover besides CH, CB</a:t>
            </a:r>
            <a:endParaRPr lang="en-US" b="0" dirty="0">
              <a:effectLst/>
            </a:endParaRPr>
          </a:p>
          <a:p>
            <a:r>
              <a:rPr lang="en-US" dirty="0"/>
              <a:t>Above Biomass – all generally lower with higher AB except CB</a:t>
            </a:r>
            <a:endParaRPr lang="en-US" b="0" dirty="0">
              <a:effectLst/>
            </a:endParaRPr>
          </a:p>
          <a:p>
            <a:r>
              <a:rPr lang="en-US" dirty="0"/>
              <a:t>Canopy – All higher with taller canopy besides CH (negatively correlated) and LM (negative parabolic)</a:t>
            </a:r>
            <a:endParaRPr lang="en-US" b="0" dirty="0">
              <a:effectLst/>
            </a:endParaRPr>
          </a:p>
          <a:p>
            <a:r>
              <a:rPr lang="en-US" dirty="0"/>
              <a:t>Leaf width – all higher with higher leaf width</a:t>
            </a:r>
            <a:endParaRPr lang="en-US" b="0" dirty="0">
              <a:effectLst/>
            </a:endParaRPr>
          </a:p>
          <a:p>
            <a:r>
              <a:rPr lang="en-US" b="1" dirty="0"/>
              <a:t>For shrimp species, temperature relationships across sites are the most different, most other relationships are opposite. Evidence of temperature variation across the Gulf, but niche separation between the two shrimp species?</a:t>
            </a:r>
            <a:endParaRPr lang="en-US" b="0" dirty="0">
              <a:effectLst/>
            </a:endParaRPr>
          </a:p>
          <a:p>
            <a:br>
              <a:rPr lang="en-US" dirty="0"/>
            </a:br>
            <a:endParaRPr lang="en-US" dirty="0"/>
          </a:p>
        </p:txBody>
      </p:sp>
    </p:spTree>
    <p:extLst>
      <p:ext uri="{BB962C8B-B14F-4D97-AF65-F5344CB8AC3E}">
        <p14:creationId xmlns:p14="http://schemas.microsoft.com/office/powerpoint/2010/main" val="2303535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1D6ED-05AE-7915-F398-276BBA397B2A}"/>
              </a:ext>
            </a:extLst>
          </p:cNvPr>
          <p:cNvSpPr>
            <a:spLocks noGrp="1"/>
          </p:cNvSpPr>
          <p:nvPr>
            <p:ph type="title"/>
          </p:nvPr>
        </p:nvSpPr>
        <p:spPr/>
        <p:txBody>
          <a:bodyPr/>
          <a:lstStyle/>
          <a:p>
            <a:r>
              <a:rPr lang="en-US" u="sng" dirty="0"/>
              <a:t>Blue Crab</a:t>
            </a:r>
            <a:br>
              <a:rPr lang="en-US" b="0" dirty="0">
                <a:effectLst/>
              </a:rPr>
            </a:br>
            <a:endParaRPr lang="en-US" dirty="0"/>
          </a:p>
        </p:txBody>
      </p:sp>
      <p:sp>
        <p:nvSpPr>
          <p:cNvPr id="3" name="Content Placeholder 2">
            <a:extLst>
              <a:ext uri="{FF2B5EF4-FFF2-40B4-BE49-F238E27FC236}">
                <a16:creationId xmlns:a16="http://schemas.microsoft.com/office/drawing/2014/main" id="{AA8239EA-30E7-8EBB-7231-73D76093E0E2}"/>
              </a:ext>
            </a:extLst>
          </p:cNvPr>
          <p:cNvSpPr>
            <a:spLocks noGrp="1"/>
          </p:cNvSpPr>
          <p:nvPr>
            <p:ph idx="1"/>
          </p:nvPr>
        </p:nvSpPr>
        <p:spPr/>
        <p:txBody>
          <a:bodyPr>
            <a:normAutofit fontScale="62500" lnSpcReduction="20000"/>
          </a:bodyPr>
          <a:lstStyle/>
          <a:p>
            <a:r>
              <a:rPr lang="en-US" b="1" dirty="0"/>
              <a:t>Blue crab relationships for environmental variables look like pink shrimp relationships</a:t>
            </a:r>
            <a:endParaRPr lang="en-US" b="0" dirty="0">
              <a:effectLst/>
            </a:endParaRPr>
          </a:p>
          <a:p>
            <a:r>
              <a:rPr lang="en-US" dirty="0"/>
              <a:t>Salinity – all positively correlated</a:t>
            </a:r>
            <a:endParaRPr lang="en-US" b="0" dirty="0">
              <a:effectLst/>
            </a:endParaRPr>
          </a:p>
          <a:p>
            <a:r>
              <a:rPr lang="en-US" dirty="0"/>
              <a:t>DO – all negatively correlated except for CK</a:t>
            </a:r>
            <a:endParaRPr lang="en-US" b="0" dirty="0">
              <a:effectLst/>
            </a:endParaRPr>
          </a:p>
          <a:p>
            <a:r>
              <a:rPr lang="en-US" dirty="0"/>
              <a:t>Temp – all positively correlated except for CK</a:t>
            </a:r>
            <a:endParaRPr lang="en-US" b="0" dirty="0">
              <a:effectLst/>
            </a:endParaRPr>
          </a:p>
          <a:p>
            <a:r>
              <a:rPr lang="en-US" dirty="0"/>
              <a:t>Seagrass richness – all negatively correlated</a:t>
            </a:r>
            <a:endParaRPr lang="en-US" b="0" dirty="0">
              <a:effectLst/>
            </a:endParaRPr>
          </a:p>
          <a:p>
            <a:r>
              <a:rPr lang="en-US" dirty="0"/>
              <a:t>Secchi – all negatively correlated</a:t>
            </a:r>
            <a:endParaRPr lang="en-US" b="0" dirty="0">
              <a:effectLst/>
            </a:endParaRPr>
          </a:p>
          <a:p>
            <a:r>
              <a:rPr lang="en-US" dirty="0"/>
              <a:t>Shoots – all are the same as pink shrimp except for CB (brown)</a:t>
            </a:r>
            <a:endParaRPr lang="en-US" b="0" dirty="0">
              <a:effectLst/>
            </a:endParaRPr>
          </a:p>
          <a:p>
            <a:r>
              <a:rPr lang="en-US" dirty="0"/>
              <a:t>Above biomass – all are higher with higher AB</a:t>
            </a:r>
            <a:endParaRPr lang="en-US" b="0" dirty="0">
              <a:effectLst/>
            </a:endParaRPr>
          </a:p>
          <a:p>
            <a:r>
              <a:rPr lang="en-US" dirty="0"/>
              <a:t>Canopy – all positively correlated</a:t>
            </a:r>
            <a:endParaRPr lang="en-US" b="0" dirty="0">
              <a:effectLst/>
            </a:endParaRPr>
          </a:p>
          <a:p>
            <a:r>
              <a:rPr lang="en-US" dirty="0"/>
              <a:t>Leaf width – all are higher with higher leaf width</a:t>
            </a:r>
            <a:endParaRPr lang="en-US" b="0" dirty="0">
              <a:effectLst/>
            </a:endParaRPr>
          </a:p>
          <a:p>
            <a:r>
              <a:rPr lang="en-US" b="1" dirty="0"/>
              <a:t>Blue crabs are pretty consistent across site, liking more cover, more salty conditions with lower DO</a:t>
            </a:r>
            <a:endParaRPr lang="en-US" b="0" dirty="0">
              <a:effectLst/>
            </a:endParaRPr>
          </a:p>
          <a:p>
            <a:br>
              <a:rPr lang="en-US" dirty="0"/>
            </a:br>
            <a:endParaRPr lang="en-US" dirty="0"/>
          </a:p>
        </p:txBody>
      </p:sp>
    </p:spTree>
    <p:extLst>
      <p:ext uri="{BB962C8B-B14F-4D97-AF65-F5344CB8AC3E}">
        <p14:creationId xmlns:p14="http://schemas.microsoft.com/office/powerpoint/2010/main" val="1792674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315B8-B97C-EBC2-2B19-C34CBF1800BC}"/>
              </a:ext>
            </a:extLst>
          </p:cNvPr>
          <p:cNvSpPr>
            <a:spLocks noGrp="1"/>
          </p:cNvSpPr>
          <p:nvPr>
            <p:ph type="title"/>
          </p:nvPr>
        </p:nvSpPr>
        <p:spPr/>
        <p:txBody>
          <a:bodyPr/>
          <a:lstStyle/>
          <a:p>
            <a:r>
              <a:rPr lang="en-US" u="sng" dirty="0"/>
              <a:t>Spotted Seatrout</a:t>
            </a:r>
            <a:br>
              <a:rPr lang="en-US" b="0" dirty="0">
                <a:effectLst/>
              </a:rPr>
            </a:br>
            <a:endParaRPr lang="en-US" dirty="0"/>
          </a:p>
        </p:txBody>
      </p:sp>
      <p:sp>
        <p:nvSpPr>
          <p:cNvPr id="3" name="Content Placeholder 2">
            <a:extLst>
              <a:ext uri="{FF2B5EF4-FFF2-40B4-BE49-F238E27FC236}">
                <a16:creationId xmlns:a16="http://schemas.microsoft.com/office/drawing/2014/main" id="{B9DA0C45-286D-2CE5-54CE-0652D70F093E}"/>
              </a:ext>
            </a:extLst>
          </p:cNvPr>
          <p:cNvSpPr>
            <a:spLocks noGrp="1"/>
          </p:cNvSpPr>
          <p:nvPr>
            <p:ph idx="1"/>
          </p:nvPr>
        </p:nvSpPr>
        <p:spPr/>
        <p:txBody>
          <a:bodyPr>
            <a:normAutofit fontScale="55000" lnSpcReduction="20000"/>
          </a:bodyPr>
          <a:lstStyle/>
          <a:p>
            <a:r>
              <a:rPr lang="en-US" dirty="0"/>
              <a:t>Salinity – All negatively correlated except for CH (parabolic, lower prob with lower and higher salinities)</a:t>
            </a:r>
            <a:endParaRPr lang="en-US" b="0" dirty="0">
              <a:effectLst/>
            </a:endParaRPr>
          </a:p>
          <a:p>
            <a:r>
              <a:rPr lang="en-US" dirty="0"/>
              <a:t>DO – All negatively correlated except for CK (negative)</a:t>
            </a:r>
            <a:endParaRPr lang="en-US" b="0" dirty="0">
              <a:effectLst/>
            </a:endParaRPr>
          </a:p>
          <a:p>
            <a:r>
              <a:rPr lang="en-US" dirty="0"/>
              <a:t>Temp – All seem to max out at 30 degrees besides CK (28)</a:t>
            </a:r>
            <a:endParaRPr lang="en-US" b="0" dirty="0">
              <a:effectLst/>
            </a:endParaRPr>
          </a:p>
          <a:p>
            <a:r>
              <a:rPr lang="en-US" dirty="0"/>
              <a:t>-       If lower than 30, positive relationship. If higher than 30, negative relationship. If passing 30, parabolic relationship</a:t>
            </a:r>
            <a:endParaRPr lang="en-US" b="0" dirty="0">
              <a:effectLst/>
            </a:endParaRPr>
          </a:p>
          <a:p>
            <a:r>
              <a:rPr lang="en-US" dirty="0"/>
              <a:t>Seagrass richness – all negatively correlated</a:t>
            </a:r>
            <a:endParaRPr lang="en-US" b="0" dirty="0">
              <a:effectLst/>
            </a:endParaRPr>
          </a:p>
          <a:p>
            <a:r>
              <a:rPr lang="en-US" dirty="0"/>
              <a:t>Secchi – all negatively correlated</a:t>
            </a:r>
            <a:endParaRPr lang="en-US" b="0" dirty="0">
              <a:effectLst/>
            </a:endParaRPr>
          </a:p>
          <a:p>
            <a:r>
              <a:rPr lang="en-US" dirty="0"/>
              <a:t>Shoots – all generally higher with higher shoot count</a:t>
            </a:r>
            <a:endParaRPr lang="en-US" b="0" dirty="0">
              <a:effectLst/>
            </a:endParaRPr>
          </a:p>
          <a:p>
            <a:r>
              <a:rPr lang="en-US" dirty="0"/>
              <a:t>Above Biomass – all generally lower with higher AB (CB opposite)</a:t>
            </a:r>
            <a:endParaRPr lang="en-US" b="0" dirty="0">
              <a:effectLst/>
            </a:endParaRPr>
          </a:p>
          <a:p>
            <a:r>
              <a:rPr lang="en-US" dirty="0"/>
              <a:t>Canopy – 50-50</a:t>
            </a:r>
            <a:endParaRPr lang="en-US" b="0" dirty="0">
              <a:effectLst/>
            </a:endParaRPr>
          </a:p>
          <a:p>
            <a:r>
              <a:rPr lang="en-US" dirty="0"/>
              <a:t>-       Positively correlated in LA, CK, AP</a:t>
            </a:r>
            <a:endParaRPr lang="en-US" b="0" dirty="0">
              <a:effectLst/>
            </a:endParaRPr>
          </a:p>
          <a:p>
            <a:r>
              <a:rPr lang="en-US" dirty="0"/>
              <a:t>-       Negatively correlated in CH, CB, LM</a:t>
            </a:r>
            <a:endParaRPr lang="en-US" b="0" dirty="0">
              <a:effectLst/>
            </a:endParaRPr>
          </a:p>
          <a:p>
            <a:r>
              <a:rPr lang="en-US" dirty="0"/>
              <a:t>Leaf width – all generally higher with higher leaf width</a:t>
            </a:r>
            <a:endParaRPr lang="en-US" b="0" dirty="0">
              <a:effectLst/>
            </a:endParaRPr>
          </a:p>
          <a:p>
            <a:r>
              <a:rPr lang="en-US" b="1" dirty="0"/>
              <a:t>Need to look at seagrass species for locations to get at canopy. Overall, like fresher water, have an optimal temp of 30, and like a lot of shoots with low biomass</a:t>
            </a:r>
            <a:endParaRPr lang="en-US" b="0" dirty="0">
              <a:effectLst/>
            </a:endParaRPr>
          </a:p>
          <a:p>
            <a:br>
              <a:rPr lang="en-US" dirty="0"/>
            </a:br>
            <a:endParaRPr lang="en-US" dirty="0"/>
          </a:p>
        </p:txBody>
      </p:sp>
    </p:spTree>
    <p:extLst>
      <p:ext uri="{BB962C8B-B14F-4D97-AF65-F5344CB8AC3E}">
        <p14:creationId xmlns:p14="http://schemas.microsoft.com/office/powerpoint/2010/main" val="1337598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C2537-5374-BB94-23F8-2D08916509EA}"/>
              </a:ext>
            </a:extLst>
          </p:cNvPr>
          <p:cNvSpPr>
            <a:spLocks noGrp="1"/>
          </p:cNvSpPr>
          <p:nvPr>
            <p:ph type="title"/>
          </p:nvPr>
        </p:nvSpPr>
        <p:spPr/>
        <p:txBody>
          <a:bodyPr/>
          <a:lstStyle/>
          <a:p>
            <a:r>
              <a:rPr lang="en-US" u="sng" dirty="0"/>
              <a:t>Gray Snapper</a:t>
            </a:r>
            <a:br>
              <a:rPr lang="en-US" b="0" dirty="0">
                <a:effectLst/>
              </a:rPr>
            </a:br>
            <a:endParaRPr lang="en-US" dirty="0"/>
          </a:p>
        </p:txBody>
      </p:sp>
      <p:sp>
        <p:nvSpPr>
          <p:cNvPr id="3" name="Content Placeholder 2">
            <a:extLst>
              <a:ext uri="{FF2B5EF4-FFF2-40B4-BE49-F238E27FC236}">
                <a16:creationId xmlns:a16="http://schemas.microsoft.com/office/drawing/2014/main" id="{DD335E95-EB19-DA9F-0D9F-CA104F87698D}"/>
              </a:ext>
            </a:extLst>
          </p:cNvPr>
          <p:cNvSpPr>
            <a:spLocks noGrp="1"/>
          </p:cNvSpPr>
          <p:nvPr>
            <p:ph idx="1"/>
          </p:nvPr>
        </p:nvSpPr>
        <p:spPr/>
        <p:txBody>
          <a:bodyPr>
            <a:normAutofit fontScale="25000" lnSpcReduction="20000"/>
          </a:bodyPr>
          <a:lstStyle/>
          <a:p>
            <a:r>
              <a:rPr lang="en-US" b="1" dirty="0"/>
              <a:t>Check sizes of snapper for each site</a:t>
            </a:r>
            <a:endParaRPr lang="en-US" b="0" dirty="0">
              <a:effectLst/>
            </a:endParaRPr>
          </a:p>
          <a:p>
            <a:r>
              <a:rPr lang="en-US" dirty="0"/>
              <a:t>Salinity – all positively correlated besides CK (negatively correlated)</a:t>
            </a:r>
            <a:endParaRPr lang="en-US" b="0" dirty="0">
              <a:effectLst/>
            </a:endParaRPr>
          </a:p>
          <a:p>
            <a:r>
              <a:rPr lang="en-US" dirty="0"/>
              <a:t>DO – all over the place</a:t>
            </a:r>
            <a:endParaRPr lang="en-US" b="0" dirty="0">
              <a:effectLst/>
            </a:endParaRPr>
          </a:p>
          <a:p>
            <a:r>
              <a:rPr lang="en-US" dirty="0"/>
              <a:t>-       Positive in AP, CK, CH (Florida)</a:t>
            </a:r>
            <a:endParaRPr lang="en-US" b="0" dirty="0">
              <a:effectLst/>
            </a:endParaRPr>
          </a:p>
          <a:p>
            <a:r>
              <a:rPr lang="en-US" dirty="0"/>
              <a:t>-       Negative in CB</a:t>
            </a:r>
            <a:endParaRPr lang="en-US" b="0" dirty="0">
              <a:effectLst/>
            </a:endParaRPr>
          </a:p>
          <a:p>
            <a:r>
              <a:rPr lang="en-US" dirty="0"/>
              <a:t>-       Parabolic in LA, LM</a:t>
            </a:r>
            <a:endParaRPr lang="en-US" b="0" dirty="0">
              <a:effectLst/>
            </a:endParaRPr>
          </a:p>
          <a:p>
            <a:r>
              <a:rPr lang="en-US" dirty="0"/>
              <a:t>Temp – all over place</a:t>
            </a:r>
            <a:endParaRPr lang="en-US" b="0" dirty="0">
              <a:effectLst/>
            </a:endParaRPr>
          </a:p>
          <a:p>
            <a:r>
              <a:rPr lang="en-US" dirty="0"/>
              <a:t>-       Positive in AP, LM</a:t>
            </a:r>
            <a:endParaRPr lang="en-US" b="0" dirty="0">
              <a:effectLst/>
            </a:endParaRPr>
          </a:p>
          <a:p>
            <a:r>
              <a:rPr lang="en-US" dirty="0"/>
              <a:t>-       Negative in CK, CH, CB</a:t>
            </a:r>
            <a:endParaRPr lang="en-US" b="0" dirty="0">
              <a:effectLst/>
            </a:endParaRPr>
          </a:p>
          <a:p>
            <a:r>
              <a:rPr lang="en-US" dirty="0"/>
              <a:t>-       Parabolic in LA</a:t>
            </a:r>
            <a:endParaRPr lang="en-US" b="0" dirty="0">
              <a:effectLst/>
            </a:endParaRPr>
          </a:p>
          <a:p>
            <a:r>
              <a:rPr lang="en-US" dirty="0"/>
              <a:t>Species richness – All negatively related</a:t>
            </a:r>
            <a:endParaRPr lang="en-US" b="0" dirty="0">
              <a:effectLst/>
            </a:endParaRPr>
          </a:p>
          <a:p>
            <a:r>
              <a:rPr lang="en-US" dirty="0"/>
              <a:t>Secchi – All negatively related</a:t>
            </a:r>
            <a:endParaRPr lang="en-US" b="0" dirty="0">
              <a:effectLst/>
            </a:endParaRPr>
          </a:p>
          <a:p>
            <a:r>
              <a:rPr lang="en-US" dirty="0"/>
              <a:t>Shoots and Above biomass are the same relationships as seatrout (almost exactly)</a:t>
            </a:r>
            <a:endParaRPr lang="en-US" b="0" dirty="0">
              <a:effectLst/>
            </a:endParaRPr>
          </a:p>
          <a:p>
            <a:r>
              <a:rPr lang="en-US" dirty="0"/>
              <a:t>Canopy – all over place</a:t>
            </a:r>
            <a:endParaRPr lang="en-US" b="0" dirty="0">
              <a:effectLst/>
            </a:endParaRPr>
          </a:p>
          <a:p>
            <a:r>
              <a:rPr lang="en-US" dirty="0"/>
              <a:t>-       Positive in LA, CK, AP</a:t>
            </a:r>
            <a:endParaRPr lang="en-US" b="0" dirty="0">
              <a:effectLst/>
            </a:endParaRPr>
          </a:p>
          <a:p>
            <a:r>
              <a:rPr lang="en-US" dirty="0"/>
              <a:t>-       Negative in Texas</a:t>
            </a:r>
            <a:endParaRPr lang="en-US" b="0" dirty="0">
              <a:effectLst/>
            </a:endParaRPr>
          </a:p>
          <a:p>
            <a:r>
              <a:rPr lang="en-US" dirty="0"/>
              <a:t>-       Weird sinusoidal curve in CH</a:t>
            </a:r>
            <a:endParaRPr lang="en-US" b="0" dirty="0">
              <a:effectLst/>
            </a:endParaRPr>
          </a:p>
          <a:p>
            <a:r>
              <a:rPr lang="en-US" dirty="0"/>
              <a:t>Leaf width – Same as seatrout</a:t>
            </a:r>
            <a:endParaRPr lang="en-US" b="0" dirty="0">
              <a:effectLst/>
            </a:endParaRPr>
          </a:p>
          <a:p>
            <a:r>
              <a:rPr lang="en-US" dirty="0"/>
              <a:t>Predictor importance across sites</a:t>
            </a:r>
            <a:endParaRPr lang="en-US" b="0" dirty="0">
              <a:effectLst/>
            </a:endParaRPr>
          </a:p>
          <a:p>
            <a:br>
              <a:rPr lang="en-US" dirty="0"/>
            </a:br>
            <a:endParaRPr lang="en-US" dirty="0"/>
          </a:p>
        </p:txBody>
      </p:sp>
    </p:spTree>
    <p:extLst>
      <p:ext uri="{BB962C8B-B14F-4D97-AF65-F5344CB8AC3E}">
        <p14:creationId xmlns:p14="http://schemas.microsoft.com/office/powerpoint/2010/main" val="75727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ABF05-B33D-CCE1-C2FB-A637F06A02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B5EBBD-0F72-5810-E3D0-67409F011F8F}"/>
              </a:ext>
            </a:extLst>
          </p:cNvPr>
          <p:cNvSpPr>
            <a:spLocks noGrp="1"/>
          </p:cNvSpPr>
          <p:nvPr>
            <p:ph idx="1"/>
          </p:nvPr>
        </p:nvSpPr>
        <p:spPr/>
        <p:txBody>
          <a:bodyPr>
            <a:normAutofit fontScale="55000" lnSpcReduction="20000"/>
          </a:bodyPr>
          <a:lstStyle/>
          <a:p>
            <a:r>
              <a:rPr lang="en-US" u="sng" dirty="0"/>
              <a:t>AP</a:t>
            </a:r>
            <a:endParaRPr lang="en-US" b="0" dirty="0">
              <a:effectLst/>
            </a:endParaRPr>
          </a:p>
          <a:p>
            <a:r>
              <a:rPr lang="en-US" dirty="0"/>
              <a:t>Depth and macro-weight important for inverts</a:t>
            </a:r>
            <a:endParaRPr lang="en-US" b="0" dirty="0">
              <a:effectLst/>
            </a:endParaRPr>
          </a:p>
          <a:p>
            <a:r>
              <a:rPr lang="en-US" dirty="0"/>
              <a:t>Both TT and SF important for all species</a:t>
            </a:r>
            <a:endParaRPr lang="en-US" b="0" dirty="0">
              <a:effectLst/>
            </a:endParaRPr>
          </a:p>
          <a:p>
            <a:r>
              <a:rPr lang="en-US" dirty="0"/>
              <a:t>Shoots, canopy, and shoot structure important for all species. AB important for crabs</a:t>
            </a:r>
            <a:endParaRPr lang="en-US" b="0" dirty="0">
              <a:effectLst/>
            </a:endParaRPr>
          </a:p>
          <a:p>
            <a:r>
              <a:rPr lang="en-US" u="sng" dirty="0"/>
              <a:t>CB</a:t>
            </a:r>
            <a:endParaRPr lang="en-US" b="0" dirty="0">
              <a:effectLst/>
            </a:endParaRPr>
          </a:p>
          <a:p>
            <a:r>
              <a:rPr lang="en-US" dirty="0"/>
              <a:t>Depth and temp important for crab, DO for pink shrimp</a:t>
            </a:r>
            <a:endParaRPr lang="en-US" b="0" dirty="0">
              <a:effectLst/>
            </a:endParaRPr>
          </a:p>
          <a:p>
            <a:r>
              <a:rPr lang="en-US" dirty="0"/>
              <a:t>TT and HW important for crabs, TT important for all other species</a:t>
            </a:r>
            <a:endParaRPr lang="en-US" b="0" dirty="0">
              <a:effectLst/>
            </a:endParaRPr>
          </a:p>
          <a:p>
            <a:r>
              <a:rPr lang="en-US" dirty="0"/>
              <a:t>Canopy, shoots, and shoot structure important for crab</a:t>
            </a:r>
            <a:endParaRPr lang="en-US" b="0" dirty="0">
              <a:effectLst/>
            </a:endParaRPr>
          </a:p>
          <a:p>
            <a:r>
              <a:rPr lang="en-US" b="1" dirty="0"/>
              <a:t>Check species caught here. Seems like a lot of blue crab, maybe not a lot else</a:t>
            </a:r>
            <a:endParaRPr lang="en-US" b="0" dirty="0">
              <a:effectLst/>
            </a:endParaRPr>
          </a:p>
          <a:p>
            <a:r>
              <a:rPr lang="en-US" u="sng" dirty="0"/>
              <a:t>CH</a:t>
            </a:r>
            <a:endParaRPr lang="en-US" b="0" dirty="0">
              <a:effectLst/>
            </a:endParaRPr>
          </a:p>
          <a:p>
            <a:r>
              <a:rPr lang="en-US" dirty="0"/>
              <a:t>Canopy and shoot structure important for blue crab, canopy and leaf width and shoot structure and shoots important for brown shrimp, leaf width and shoots important for pink shrimp</a:t>
            </a:r>
            <a:endParaRPr lang="en-US" b="0" dirty="0">
              <a:effectLst/>
            </a:endParaRPr>
          </a:p>
          <a:p>
            <a:r>
              <a:rPr lang="en-US" dirty="0"/>
              <a:t>TT important for all species, HW important for inverts</a:t>
            </a:r>
            <a:endParaRPr lang="en-US" b="0" dirty="0">
              <a:effectLst/>
            </a:endParaRPr>
          </a:p>
          <a:p>
            <a:r>
              <a:rPr lang="en-US" dirty="0"/>
              <a:t>Depth important for inverts and seatrout, salinity important for inverts, </a:t>
            </a:r>
            <a:r>
              <a:rPr lang="en-US" dirty="0" err="1"/>
              <a:t>macro_weight</a:t>
            </a:r>
            <a:r>
              <a:rPr lang="en-US" dirty="0"/>
              <a:t> important for inverts, DO important for pink shrimp</a:t>
            </a:r>
            <a:endParaRPr lang="en-US" b="0" dirty="0">
              <a:effectLst/>
            </a:endParaRPr>
          </a:p>
        </p:txBody>
      </p:sp>
    </p:spTree>
    <p:extLst>
      <p:ext uri="{BB962C8B-B14F-4D97-AF65-F5344CB8AC3E}">
        <p14:creationId xmlns:p14="http://schemas.microsoft.com/office/powerpoint/2010/main" val="912680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2863A-2A8E-01EB-4CE0-C04EE019EC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47AE01-14E2-DC90-4EB9-3917A93A8E6E}"/>
              </a:ext>
            </a:extLst>
          </p:cNvPr>
          <p:cNvSpPr>
            <a:spLocks noGrp="1"/>
          </p:cNvSpPr>
          <p:nvPr>
            <p:ph idx="1"/>
          </p:nvPr>
        </p:nvSpPr>
        <p:spPr/>
        <p:txBody>
          <a:bodyPr>
            <a:normAutofit fontScale="47500" lnSpcReduction="20000"/>
          </a:bodyPr>
          <a:lstStyle/>
          <a:p>
            <a:r>
              <a:rPr lang="en-US" u="sng" dirty="0"/>
              <a:t>CK</a:t>
            </a:r>
            <a:endParaRPr lang="en-US" b="0" dirty="0">
              <a:effectLst/>
            </a:endParaRPr>
          </a:p>
          <a:p>
            <a:r>
              <a:rPr lang="en-US" dirty="0" err="1"/>
              <a:t>Macro_weight</a:t>
            </a:r>
            <a:r>
              <a:rPr lang="en-US" dirty="0"/>
              <a:t> and DO important for pink shrimp, depth and richness and Secchi and temp important for brown shrimp</a:t>
            </a:r>
            <a:endParaRPr lang="en-US" b="0" dirty="0">
              <a:effectLst/>
            </a:endParaRPr>
          </a:p>
          <a:p>
            <a:r>
              <a:rPr lang="en-US" dirty="0"/>
              <a:t>TT and SF important for all species. HW important for inverts</a:t>
            </a:r>
            <a:endParaRPr lang="en-US" b="0" dirty="0">
              <a:effectLst/>
            </a:endParaRPr>
          </a:p>
          <a:p>
            <a:r>
              <a:rPr lang="en-US" dirty="0"/>
              <a:t>Canopy and shoot structure important for all species. AB important for brown shrimp. Percent cover important for inverts</a:t>
            </a:r>
            <a:endParaRPr lang="en-US" b="0" dirty="0">
              <a:effectLst/>
            </a:endParaRPr>
          </a:p>
          <a:p>
            <a:r>
              <a:rPr lang="en-US" u="sng" dirty="0"/>
              <a:t>LA</a:t>
            </a:r>
            <a:endParaRPr lang="en-US" b="0" dirty="0">
              <a:effectLst/>
            </a:endParaRPr>
          </a:p>
          <a:p>
            <a:r>
              <a:rPr lang="en-US" dirty="0"/>
              <a:t>Shoot structure and shoots important for all species. Canopy important for crabs. Percent cover important for crabs, brown shrimp and Gray snapper</a:t>
            </a:r>
            <a:endParaRPr lang="en-US" b="0" dirty="0">
              <a:effectLst/>
            </a:endParaRPr>
          </a:p>
          <a:p>
            <a:r>
              <a:rPr lang="en-US" dirty="0"/>
              <a:t>TT important for all species</a:t>
            </a:r>
            <a:endParaRPr lang="en-US" b="0" dirty="0">
              <a:effectLst/>
            </a:endParaRPr>
          </a:p>
          <a:p>
            <a:r>
              <a:rPr lang="en-US" dirty="0"/>
              <a:t>Salinity important for inverts. Depth important for pink shrimp and crabs. </a:t>
            </a:r>
            <a:r>
              <a:rPr lang="en-US" dirty="0" err="1"/>
              <a:t>Macro_weight</a:t>
            </a:r>
            <a:r>
              <a:rPr lang="en-US" dirty="0"/>
              <a:t> and DO important for pink shrimp. Richness important for brown shrimp</a:t>
            </a:r>
            <a:endParaRPr lang="en-US" b="0" dirty="0">
              <a:effectLst/>
            </a:endParaRPr>
          </a:p>
          <a:p>
            <a:r>
              <a:rPr lang="en-US" u="sng" dirty="0"/>
              <a:t>LM</a:t>
            </a:r>
            <a:endParaRPr lang="en-US" b="0" dirty="0">
              <a:effectLst/>
            </a:endParaRPr>
          </a:p>
          <a:p>
            <a:r>
              <a:rPr lang="en-US" dirty="0"/>
              <a:t>Secchi important for fish. Salinity and DO important for crabs and pink shrimp</a:t>
            </a:r>
            <a:endParaRPr lang="en-US" b="0" dirty="0">
              <a:effectLst/>
            </a:endParaRPr>
          </a:p>
          <a:p>
            <a:r>
              <a:rPr lang="en-US" dirty="0"/>
              <a:t>TT important for all species</a:t>
            </a:r>
            <a:endParaRPr lang="en-US" b="0" dirty="0">
              <a:effectLst/>
            </a:endParaRPr>
          </a:p>
          <a:p>
            <a:r>
              <a:rPr lang="en-US" dirty="0"/>
              <a:t>Canopy important for crabs, brown shrimp, and seatrout. Below Biomass important for crabs. Shoots important for inverts and gray snapper. NO SHOOT STRUCTURE IMPORTANT HERE</a:t>
            </a:r>
            <a:endParaRPr lang="en-US" b="0" dirty="0">
              <a:effectLst/>
            </a:endParaRPr>
          </a:p>
          <a:p>
            <a:r>
              <a:rPr lang="en-US" dirty="0"/>
              <a:t> </a:t>
            </a:r>
            <a:endParaRPr lang="en-US" b="0" dirty="0">
              <a:effectLst/>
            </a:endParaRPr>
          </a:p>
          <a:p>
            <a:br>
              <a:rPr lang="en-US" dirty="0"/>
            </a:br>
            <a:endParaRPr lang="en-US" dirty="0"/>
          </a:p>
          <a:p>
            <a:endParaRPr lang="en-US" dirty="0"/>
          </a:p>
        </p:txBody>
      </p:sp>
    </p:spTree>
    <p:extLst>
      <p:ext uri="{BB962C8B-B14F-4D97-AF65-F5344CB8AC3E}">
        <p14:creationId xmlns:p14="http://schemas.microsoft.com/office/powerpoint/2010/main" val="22656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1024</Words>
  <Application>Microsoft Macintosh PowerPoint</Application>
  <PresentationFormat>Widescreen</PresentationFormat>
  <Paragraphs>107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Brown Shrimp </vt:lpstr>
      <vt:lpstr>Pink Shrimp </vt:lpstr>
      <vt:lpstr>Blue Crab </vt:lpstr>
      <vt:lpstr>Spotted Seatrout </vt:lpstr>
      <vt:lpstr>Gray Snapper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Liying Li</dc:creator>
  <cp:lastModifiedBy>Liying Li</cp:lastModifiedBy>
  <cp:revision>1</cp:revision>
  <dcterms:created xsi:type="dcterms:W3CDTF">2026-05-10T20:02:18Z</dcterms:created>
  <dcterms:modified xsi:type="dcterms:W3CDTF">2026-05-10T20:05:53Z</dcterms:modified>
</cp:coreProperties>
</file>